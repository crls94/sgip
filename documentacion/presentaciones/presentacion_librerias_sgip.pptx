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85800"/>
            <a:ext cx="1083564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85800"/>
            <a:ext cx="146304" cy="5349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0" y="1143000"/>
            <a:ext cx="502920" cy="50292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2527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9" name="Oval 8"/>
          <p:cNvSpPr/>
          <p:nvPr/>
        </p:nvSpPr>
        <p:spPr>
          <a:xfrm>
            <a:off x="9464040" y="1783080"/>
            <a:ext cx="502920" cy="502920"/>
          </a:xfrm>
          <a:prstGeom prst="ellipse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1892807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1" name="Oval 10"/>
          <p:cNvSpPr/>
          <p:nvPr/>
        </p:nvSpPr>
        <p:spPr>
          <a:xfrm>
            <a:off x="10149840" y="2423160"/>
            <a:ext cx="502920" cy="50292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25328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0" y="3154680"/>
            <a:ext cx="502920" cy="5029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26440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Aptos"/>
              </a:defRPr>
            </a:pPr>
            <a:r>
              <a:t>PDF</a:t>
            </a:r>
          </a:p>
        </p:txBody>
      </p:sp>
      <p:sp>
        <p:nvSpPr>
          <p:cNvPr id="15" name="Oval 14"/>
          <p:cNvSpPr/>
          <p:nvPr/>
        </p:nvSpPr>
        <p:spPr>
          <a:xfrm>
            <a:off x="9829800" y="3886200"/>
            <a:ext cx="502920" cy="502920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39959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23444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A1F44"/>
                </a:solidFill>
                <a:latin typeface="Aptos"/>
              </a:defRPr>
            </a:pPr>
            <a:r>
              <a:t>¿Qué librerías necesito</a:t>
            </a:r>
            <a:br/>
            <a:r>
              <a:t>para mi proyecto?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74320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8606E"/>
                </a:solidFill>
                <a:latin typeface="Aptos"/>
              </a:defRPr>
            </a:pPr>
            <a:r>
              <a:t>Proyecto SGIP - Sistema de Gestión Inteligente de Inventarios y Pedidos para Metro 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0332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8606E"/>
                </a:solidFill>
                <a:latin typeface="Aptos"/>
              </a:defRPr>
            </a:pPr>
            <a:r>
              <a:t>Backend Java + Spring Boot</a:t>
            </a:r>
          </a:p>
          <a:p>
            <a:pPr>
              <a:spcAft>
                <a:spcPts val="600"/>
              </a:spcAft>
              <a:defRPr sz="1200">
                <a:solidFill>
                  <a:srgbClr val="58606E"/>
                </a:solidFill>
                <a:latin typeface="Aptos"/>
              </a:defRPr>
            </a:pPr>
            <a:r>
              <a:t>Frontend React + Vite</a:t>
            </a:r>
          </a:p>
          <a:p>
            <a:pPr>
              <a:spcAft>
                <a:spcPts val="600"/>
              </a:spcAft>
              <a:defRPr sz="1200">
                <a:solidFill>
                  <a:srgbClr val="58606E"/>
                </a:solidFill>
                <a:latin typeface="Aptos"/>
              </a:defRPr>
            </a:pPr>
            <a:r>
              <a:t>PostgreSQL + módulo IA en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Objetivo y alcance del proyecto SGIP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El sistema resuelve problemas reales de inventario, pedidos y predicción de demanda en Metro 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9728" cy="14173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27048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2"/>
            <a:ext cx="315467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Automatizar la gestión de stock y pedidos, integrando reportes y predicción semanal de demanda para apoyar decisiones gerenciales.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109728" cy="1417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527048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Problema operativo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856232"/>
            <a:ext cx="315467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Diferencias entre stock físico y digital, desorden en pedidos local/delivery y falta de anticipación de demanda.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109728" cy="1417320"/>
          </a:xfrm>
          <a:prstGeom prst="round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527048"/>
            <a:ext cx="2926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Solución tecnológica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856232"/>
            <a:ext cx="292607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Una plataforma web con API REST, base de datos centralizada, reportes exportables e IA predictiva.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33756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Necesidad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Funcionalidad clave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Librerías relacionadas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Login, roles y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Security, BCrypt, JJWT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Datos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Productos, pedidos y stock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Data JPA, PostgreSQL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Archivos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Reportes Excel/PDF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Apache POI, PDFBox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Visualización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Dashboard y métricas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React, Axios, Recharts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Predicción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Demanda semanal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pandas, scikit-learn, psycopg2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Arquitectura tecnológica y flujo de librerías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Las librerías se seleccionan según la responsabilidad de cada componente del sistema.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2148840" cy="10058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4028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  <a:br/>
            <a:r>
              <a:t>React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11680"/>
            <a:ext cx="2148840" cy="1005840"/>
          </a:xfrm>
          <a:prstGeom prst="round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224028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Backend</a:t>
            </a:r>
            <a:br/>
            <a:r>
              <a:t>Spring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2011680"/>
            <a:ext cx="2148840" cy="100584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8152" y="224028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Base de datos</a:t>
            </a:r>
            <a:br/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11680"/>
            <a:ext cx="2148840" cy="10058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224028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Módulo IA</a:t>
            </a:r>
            <a:br/>
            <a:r>
              <a:t>Python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44368" y="2258568"/>
            <a:ext cx="320040" cy="228600"/>
          </a:xfrm>
          <a:prstGeom prst="rightArrow">
            <a:avLst/>
          </a:prstGeom>
          <a:solidFill>
            <a:srgbClr val="58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413248" y="2258568"/>
            <a:ext cx="320040" cy="228600"/>
          </a:xfrm>
          <a:prstGeom prst="rightArrow">
            <a:avLst/>
          </a:prstGeom>
          <a:solidFill>
            <a:srgbClr val="58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82127" y="2258568"/>
            <a:ext cx="320040" cy="228600"/>
          </a:xfrm>
          <a:prstGeom prst="rightArrow">
            <a:avLst/>
          </a:prstGeom>
          <a:solidFill>
            <a:srgbClr val="58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8680" y="3703320"/>
          <a:ext cx="10332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Librerías clave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Razón de elección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Interfaz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React, Router, Axios, Recharts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Componentes, rutas protegidas, API REST y gráficos.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Negocio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WebMVC, Security, JPA, Validation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API robusta, seguridad, persistencia y validación.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PostgreSQL Driver, JPA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Persistencia relacional y transacciones.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IA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Streamlit, pandas, scikit-learn, psycopg2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Análisis, modelo predictivo y guardado de resultados.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Librerías Java para el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El backend concentra la seguridad, reglas de negocio, persistencia y generación de reportes.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Librería Java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¿Para qué sirve?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Ventaja en SGIP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WebMVC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Crear endpoints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Comunicación estándar con React mediante JSON/HTTP.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Data JPA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Repositories y entidades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Reduce SQL manual y aplica patrón DAO.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PostgreSQL Driver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Conexión JDBC con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Compatibilidad directa con la BD central.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Security + BCrypt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Roles y contraseñas seguras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Protege datos sensibles de usuarios, stock y pedidos.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JJWT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Tokens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Autenticación stateless para una SPA desacoplada.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Validation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Validar DTOs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Evita entradas inválidas antes de tocar negocio/BD.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Reducir código repetitivo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Menos getters, setters y constructores manuales.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Bucket4j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Rate limiting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Protege operaciones críticas contra abuso o doble envío.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Manejo de archivos y generación de reportes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SGIP requiere reportes administrativos descargables para inventario y pedidos.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983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9728" cy="1828800"/>
          </a:xfrm>
          <a:prstGeom prst="round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2704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Apache POI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56232"/>
            <a:ext cx="4663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Genera archivos Excel .xlsx desde Java. Es útil para inventario y pedidos porque permite análisis, filtros, ordenamiento y revisión administrativa.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4983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109728" cy="18288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52704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Apache PDFBox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856232"/>
            <a:ext cx="4663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Genera documentos PDF desde Java. Es adecuado para reportes formales, evidencias documentales y descargas listas para compartir con gerencia.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3794760"/>
          <a:ext cx="102412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37719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Formato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Utilidad para Metro Ica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Inventario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Excel /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Revisar productos, stock, proveedores y punto de pedido.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Pedidos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Excel / PDF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Analizar ventas, canal, estado, cliente, total y fechas.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Historial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Registro en 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Trazabilidad de reportes generados por usuario.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Frontend y módulo de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Las librerías externas complementan la experiencia visual y la predicción de demanda.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5440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Ventaja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Interfaz por componentes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Modularidad y reutilización.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React Router DOM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Rutas protegidas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Navegación por módulos y roles.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Axios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Consumo de API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Interceptors para JWT y errores.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Recharts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Gráficos del dashboard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Visualización clara de métricas.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Desarrollo y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Rapidez y configuración simple.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234440"/>
          <a:ext cx="5303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IA / Python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Ventaja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Interfaz del módulo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Validación visual rápida.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Requests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Leer datos del backend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Integración REST simple.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Transformar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Agrupación semanal y limpieza.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Regresión lineal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Modelo explicable y académico.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Psycopg2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Guardar predicciones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Conexión directa a PostgreSQL.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Logs, monitoreo y librerías recomendadas a futuro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La siguiente etapa debería fortalecer documentación, operación, pruebas y escalabilidad.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244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Librería / Tecnología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¿Para qué serviría?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Ventaja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springdoc-openapi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Swagger/OpenAPI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Documenta endpoints y facilita pruebas.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Flyway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Migraciones SQL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Controla cambios de BD de forma versionada.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Spring Boot Actuator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Health checks y métricas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Apoya disponibilidad y monitoreo.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Testcontainers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Media/Alta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Tests con PostgreSQL real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Valida transacciones y repositories.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Sentry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Captura de errores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Diagnóstico en producción.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TanStack Query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Cache y sincronización API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Reduce lógica repetida en React.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pytest / 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Pruebas y modelos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Mayor confiabilidad del módulo predictivo.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Futura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Rate limiting/cache distribuido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2B3341"/>
                          </a:solidFill>
                          <a:latin typeface="Aptos"/>
                        </a:defRPr>
                      </a:pPr>
                      <a:r>
                        <a:t>Escala si hay múltiples instancias.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770632" cy="164592"/>
          </a:xfrm>
          <a:prstGeom prst="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1F44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8606E"/>
                </a:solidFill>
                <a:latin typeface="Aptos"/>
              </a:defRPr>
            </a:pPr>
            <a:r>
              <a:t>Las librerías seleccionadas no son accesorios: permiten cumplir los requerimientos del sistema.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109728" cy="15087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43560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76479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Spring Security, BCrypt y JJWT protegen usuarios, roles y endpoints críticos.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325880"/>
            <a:ext cx="109728" cy="1508760"/>
          </a:xfrm>
          <a:prstGeom prst="roundRect">
            <a:avLst/>
          </a:prstGeom>
          <a:solidFill>
            <a:srgbClr val="58A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43560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Persistencia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76479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Spring Data JPA y PostgreSQL aseguran datos centralizados y transacciones confiables.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109728" cy="15087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35607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Reportes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764792"/>
            <a:ext cx="283464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Apache POI y PDFBox permiten Excel/PDF para gerencia y operación.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109728" cy="150876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5584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685031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React, Axios, Router y Recharts ofrecen una SPA modular y visual.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2461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3246120"/>
            <a:ext cx="109728" cy="1508760"/>
          </a:xfrm>
          <a:prstGeom prst="round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35584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685031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Pandas y scikit-learn transforman datos históricos en predicciones semanales.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24612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3246120"/>
            <a:ext cx="109728" cy="15087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35584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1F44"/>
                </a:solidFill>
                <a:latin typeface="Aptos"/>
              </a:defRPr>
            </a:pPr>
            <a:r>
              <a:t>Evolución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685031"/>
            <a:ext cx="283464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58606E"/>
                </a:solidFill>
                <a:latin typeface="Aptos"/>
              </a:defRPr>
            </a:pPr>
            <a:r>
              <a:t>OpenAPI, Flyway, Actuator y Testcontainers fortalecen producción y mantenimiento.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532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A1F44"/>
                </a:solidFill>
                <a:latin typeface="Aptos"/>
              </a:defRPr>
            </a:pPr>
            <a:r>
              <a:t>Las librerías aceleran el desarrollo y permiten construir SGIP de forma segura, mantenible y profesional.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E"/>
                </a:solidFill>
                <a:latin typeface="Aptos"/>
              </a:defRPr>
            </a:pPr>
            <a:r>
              <a:t>SGIP Metro Ica | Librerías y tecnologías del proyecto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E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